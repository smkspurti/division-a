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C06022-8A35-4930-BFAD-B8942A48E4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6BD743-4FE1-44D5-A6A7-40C89D4127E9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Before we talk about AI or motion, we have to understand what the computer actually sees. To us, this is a shirt. To a computer, it’s a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Geometric Skin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. It is a mesh made of thousands of tiny triangles. Each corner of those triangles is a vertex—a single point in 3D space with  x, y, and z coordinate.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Right now, this shirt is a static blueprint. It has no 'life' yet. Our entire field exists to answer one question: When the person wearing this blueprint moves, how do we update every single one of these thousands of points so the result looks like real fabric?"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4086AA-292E-453D-9C37-28AD3C4243EE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In the world of E-commerce, we want 'Virtual Try-On' where you can see exactly how a dress drapes on your body before you buy it. In entertainment, we need clothes that move perfectly for digital humans in movies and AAA games.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We are solving this because we want to move away from static images and toward a world where digital clothing is as dynamic and interactive as the clothes you are wearing right now."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013915-B509-41FE-B07E-FFEBE3B3E56A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</a:t>
            </a: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Generalization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Signal Prpogation lag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In standard AI, information travels too slowly across the cloth. Instead of acting like stiff cotton or denim, the fabric looks like melting, over-stretched rubber.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Finally, and most importantly, we have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Numerical Instability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This is the 'breaking point.' If the math behind the forces—the gravity, the tension, and the body contact—is off by even a fraction, the physics don't just look 'bad.' They diverge.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D6F0C4-4316-4F77-9803-AD38B1945FE6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35E936-760C-47B8-A103-D7A7D1D603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BA10C9-75D3-444A-A7FC-04481CA6D9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9ED41D-34D5-4EFC-84B7-0B69B86174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B54EF7-04CA-44A2-8086-CDD488D615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748833-9A87-4DDD-9098-69516C6AD1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3B6719-35E5-41C8-9F04-18075AED3F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80E46-41FE-4D09-B41C-E1ADEF31CF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DC942-82F3-42CB-A81C-45AFF34FBB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9DEF4-C234-4F2E-B765-E832B6A6BC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BF385-E8E7-411B-A595-EFAF200268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6A18F-827E-4F50-8A5F-77A215AEC8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3560" y="1532880"/>
            <a:ext cx="12148200" cy="851760"/>
          </a:xfrm>
          <a:prstGeom prst="rect">
            <a:avLst/>
          </a:prstGeom>
          <a:gradFill rotWithShape="0">
            <a:gsLst>
              <a:gs pos="0">
                <a:srgbClr val="FFDA9E"/>
              </a:gs>
              <a:gs pos="50000">
                <a:srgbClr val="FFD590"/>
              </a:gs>
              <a:gs pos="100000">
                <a:srgbClr val="FFD07C"/>
              </a:gs>
            </a:gsLst>
            <a:lin ang="5400000"/>
          </a:gradFill>
          <a:ln w="6480">
            <a:solidFill>
              <a:schemeClr val="accent4"/>
            </a:solidFill>
            <a:miter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Personal Finance Health Report Generator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Inside KLE Technological University ..."/>
          <p:cNvPicPr/>
          <p:nvPr/>
        </p:nvPicPr>
        <p:blipFill>
          <a:blip r:embed="rId1"/>
          <a:srcRect l="0" t="16513" r="565" b="22362"/>
          <a:stretch/>
        </p:blipFill>
        <p:spPr>
          <a:xfrm>
            <a:off x="9289800" y="0"/>
            <a:ext cx="2748240" cy="851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69" name="Table 4"/>
          <p:cNvGraphicFramePr/>
          <p:nvPr/>
        </p:nvGraphicFramePr>
        <p:xfrm>
          <a:off x="2416680" y="3255840"/>
          <a:ext cx="7401960" cy="3133080"/>
        </p:xfrm>
        <a:graphic>
          <a:graphicData uri="http://schemas.openxmlformats.org/drawingml/2006/table">
            <a:tbl>
              <a:tblPr/>
              <a:tblGrid>
                <a:gridCol w="3587400"/>
                <a:gridCol w="3814560"/>
              </a:tblGrid>
              <a:tr h="514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Name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USN</a:t>
                      </a:r>
                      <a:endParaRPr lang="en-US" sz="2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14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Shivaraj J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01fe23bcs100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23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Yashas A B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01fe23bcs026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29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Shreya Patil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01fe23bcs006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23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IN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Adavirao K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01fe23bcs081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0" name="TextBox 5"/>
          <p:cNvSpPr/>
          <p:nvPr/>
        </p:nvSpPr>
        <p:spPr>
          <a:xfrm>
            <a:off x="5039280" y="2558160"/>
            <a:ext cx="266940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Calibri"/>
                <a:ea typeface="Calibri"/>
              </a:rPr>
              <a:t>Team- 5 </a:t>
            </a:r>
            <a:br>
              <a:rPr sz="3200"/>
            </a:b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      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80680" y="459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Problem Statment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  <a:gd name="GluePoint1X" fmla="*/ 0 w 10853928"/>
              <a:gd name="GluePoint1Y" fmla="*/ 0 h 18288"/>
              <a:gd name="GluePoint2X" fmla="*/ 461292 w 10853928"/>
              <a:gd name="GluePoint2Y" fmla="*/ 0 h 18288"/>
              <a:gd name="GluePoint3X" fmla="*/ 1139662 w 10853928"/>
              <a:gd name="GluePoint3Y" fmla="*/ 0 h 18288"/>
              <a:gd name="GluePoint4X" fmla="*/ 1926572 w 10853928"/>
              <a:gd name="GluePoint4Y" fmla="*/ 0 h 18288"/>
              <a:gd name="GluePoint5X" fmla="*/ 2279325 w 10853928"/>
              <a:gd name="GluePoint5Y" fmla="*/ 0 h 18288"/>
              <a:gd name="GluePoint6X" fmla="*/ 2632078 w 10853928"/>
              <a:gd name="GluePoint6Y" fmla="*/ 0 h 18288"/>
              <a:gd name="GluePoint7X" fmla="*/ 3527527 w 10853928"/>
              <a:gd name="GluePoint7Y" fmla="*/ 0 h 18288"/>
              <a:gd name="GluePoint8X" fmla="*/ 4205897 w 10853928"/>
              <a:gd name="GluePoint8Y" fmla="*/ 0 h 18288"/>
              <a:gd name="GluePoint9X" fmla="*/ 4558650 w 10853928"/>
              <a:gd name="GluePoint9Y" fmla="*/ 0 h 18288"/>
              <a:gd name="GluePoint10X" fmla="*/ 5237020 w 10853928"/>
              <a:gd name="GluePoint10Y" fmla="*/ 0 h 18288"/>
              <a:gd name="GluePoint11X" fmla="*/ 6132469 w 10853928"/>
              <a:gd name="GluePoint11Y" fmla="*/ 0 h 18288"/>
              <a:gd name="GluePoint12X" fmla="*/ 6702301 w 10853928"/>
              <a:gd name="GluePoint12Y" fmla="*/ 0 h 18288"/>
              <a:gd name="GluePoint13X" fmla="*/ 7272132 w 10853928"/>
              <a:gd name="GluePoint13Y" fmla="*/ 0 h 18288"/>
              <a:gd name="GluePoint14X" fmla="*/ 7950502 w 10853928"/>
              <a:gd name="GluePoint14Y" fmla="*/ 0 h 18288"/>
              <a:gd name="GluePoint15X" fmla="*/ 8737412 w 10853928"/>
              <a:gd name="GluePoint15Y" fmla="*/ 0 h 18288"/>
              <a:gd name="GluePoint16X" fmla="*/ 9524322 w 10853928"/>
              <a:gd name="GluePoint16Y" fmla="*/ 0 h 18288"/>
              <a:gd name="GluePoint17X" fmla="*/ 10853928 w 10853928"/>
              <a:gd name="GluePoint17Y" fmla="*/ 0 h 18288"/>
              <a:gd name="GluePoint18X" fmla="*/ 10853928 w 10853928"/>
              <a:gd name="GluePoint18Y" fmla="*/ 18288 h 18288"/>
              <a:gd name="GluePoint19X" fmla="*/ 10392636 w 10853928"/>
              <a:gd name="GluePoint19Y" fmla="*/ 18288 h 18288"/>
              <a:gd name="GluePoint20X" fmla="*/ 9497187 w 10853928"/>
              <a:gd name="GluePoint20Y" fmla="*/ 18288 h 18288"/>
              <a:gd name="GluePoint21X" fmla="*/ 8818817 w 10853928"/>
              <a:gd name="GluePoint21Y" fmla="*/ 18288 h 18288"/>
              <a:gd name="GluePoint22X" fmla="*/ 8466064 w 10853928"/>
              <a:gd name="GluePoint22Y" fmla="*/ 18288 h 18288"/>
              <a:gd name="GluePoint23X" fmla="*/ 7787693 w 10853928"/>
              <a:gd name="GluePoint23Y" fmla="*/ 18288 h 18288"/>
              <a:gd name="GluePoint24X" fmla="*/ 7217862 w 10853928"/>
              <a:gd name="GluePoint24Y" fmla="*/ 18288 h 18288"/>
              <a:gd name="GluePoint25X" fmla="*/ 6648031 w 10853928"/>
              <a:gd name="GluePoint25Y" fmla="*/ 18288 h 18288"/>
              <a:gd name="GluePoint26X" fmla="*/ 6078200 w 10853928"/>
              <a:gd name="GluePoint26Y" fmla="*/ 18288 h 18288"/>
              <a:gd name="GluePoint27X" fmla="*/ 5508368 w 10853928"/>
              <a:gd name="GluePoint27Y" fmla="*/ 18288 h 18288"/>
              <a:gd name="GluePoint28X" fmla="*/ 4721459 w 10853928"/>
              <a:gd name="GluePoint28Y" fmla="*/ 18288 h 18288"/>
              <a:gd name="GluePoint29X" fmla="*/ 4043088 w 10853928"/>
              <a:gd name="GluePoint29Y" fmla="*/ 18288 h 18288"/>
              <a:gd name="GluePoint30X" fmla="*/ 3690336 w 10853928"/>
              <a:gd name="GluePoint30Y" fmla="*/ 18288 h 18288"/>
              <a:gd name="GluePoint31X" fmla="*/ 3120504 w 10853928"/>
              <a:gd name="GluePoint31Y" fmla="*/ 18288 h 18288"/>
              <a:gd name="GluePoint32X" fmla="*/ 2333595 w 10853928"/>
              <a:gd name="GluePoint32Y" fmla="*/ 18288 h 18288"/>
              <a:gd name="GluePoint33X" fmla="*/ 1872303 w 10853928"/>
              <a:gd name="GluePoint33Y" fmla="*/ 18288 h 18288"/>
              <a:gd name="GluePoint34X" fmla="*/ 976854 w 10853928"/>
              <a:gd name="GluePoint34Y" fmla="*/ 18288 h 18288"/>
              <a:gd name="GluePoint35X" fmla="*/ 0 w 10853928"/>
              <a:gd name="GluePoint35Y" fmla="*/ 18288 h 18288"/>
              <a:gd name="GluePoint36X" fmla="*/ 0 w 10853928"/>
              <a:gd name="GluePoint36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D7D3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Inside KLE Technological University ..."/>
          <p:cNvPicPr/>
          <p:nvPr/>
        </p:nvPicPr>
        <p:blipFill>
          <a:blip r:embed="rId1"/>
          <a:stretch/>
        </p:blipFill>
        <p:spPr>
          <a:xfrm>
            <a:off x="9121320" y="100800"/>
            <a:ext cx="2893680" cy="138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1"/>
          <p:cNvSpPr/>
          <p:nvPr/>
        </p:nvSpPr>
        <p:spPr>
          <a:xfrm>
            <a:off x="435600" y="2244240"/>
            <a:ext cx="11316960" cy="31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Issue: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Individuals generally lack awareness of their overall financial health, relying solely on their current bank balance as a metric.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Goal: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Build a GenAI system that processes structured personal financial data (income, expenses, EMIs, savings).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Output: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Generate a personalized monthly report featuring a Financial Wellness Score, spending analysis, savings gap identification, and specific, actionable recommendations.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2200" y="353880"/>
            <a:ext cx="844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IN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Data Engineering – Transaction Categorization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8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  <a:gd name="GluePoint1X" fmla="*/ 0 w 10853928"/>
              <a:gd name="GluePoint1Y" fmla="*/ 0 h 18288"/>
              <a:gd name="GluePoint2X" fmla="*/ 461292 w 10853928"/>
              <a:gd name="GluePoint2Y" fmla="*/ 0 h 18288"/>
              <a:gd name="GluePoint3X" fmla="*/ 1139662 w 10853928"/>
              <a:gd name="GluePoint3Y" fmla="*/ 0 h 18288"/>
              <a:gd name="GluePoint4X" fmla="*/ 1926572 w 10853928"/>
              <a:gd name="GluePoint4Y" fmla="*/ 0 h 18288"/>
              <a:gd name="GluePoint5X" fmla="*/ 2279325 w 10853928"/>
              <a:gd name="GluePoint5Y" fmla="*/ 0 h 18288"/>
              <a:gd name="GluePoint6X" fmla="*/ 2632078 w 10853928"/>
              <a:gd name="GluePoint6Y" fmla="*/ 0 h 18288"/>
              <a:gd name="GluePoint7X" fmla="*/ 3527527 w 10853928"/>
              <a:gd name="GluePoint7Y" fmla="*/ 0 h 18288"/>
              <a:gd name="GluePoint8X" fmla="*/ 4205897 w 10853928"/>
              <a:gd name="GluePoint8Y" fmla="*/ 0 h 18288"/>
              <a:gd name="GluePoint9X" fmla="*/ 4558650 w 10853928"/>
              <a:gd name="GluePoint9Y" fmla="*/ 0 h 18288"/>
              <a:gd name="GluePoint10X" fmla="*/ 5237020 w 10853928"/>
              <a:gd name="GluePoint10Y" fmla="*/ 0 h 18288"/>
              <a:gd name="GluePoint11X" fmla="*/ 6132469 w 10853928"/>
              <a:gd name="GluePoint11Y" fmla="*/ 0 h 18288"/>
              <a:gd name="GluePoint12X" fmla="*/ 6702301 w 10853928"/>
              <a:gd name="GluePoint12Y" fmla="*/ 0 h 18288"/>
              <a:gd name="GluePoint13X" fmla="*/ 7272132 w 10853928"/>
              <a:gd name="GluePoint13Y" fmla="*/ 0 h 18288"/>
              <a:gd name="GluePoint14X" fmla="*/ 7950502 w 10853928"/>
              <a:gd name="GluePoint14Y" fmla="*/ 0 h 18288"/>
              <a:gd name="GluePoint15X" fmla="*/ 8737412 w 10853928"/>
              <a:gd name="GluePoint15Y" fmla="*/ 0 h 18288"/>
              <a:gd name="GluePoint16X" fmla="*/ 9524322 w 10853928"/>
              <a:gd name="GluePoint16Y" fmla="*/ 0 h 18288"/>
              <a:gd name="GluePoint17X" fmla="*/ 10853928 w 10853928"/>
              <a:gd name="GluePoint17Y" fmla="*/ 0 h 18288"/>
              <a:gd name="GluePoint18X" fmla="*/ 10853928 w 10853928"/>
              <a:gd name="GluePoint18Y" fmla="*/ 18288 h 18288"/>
              <a:gd name="GluePoint19X" fmla="*/ 10392636 w 10853928"/>
              <a:gd name="GluePoint19Y" fmla="*/ 18288 h 18288"/>
              <a:gd name="GluePoint20X" fmla="*/ 9497187 w 10853928"/>
              <a:gd name="GluePoint20Y" fmla="*/ 18288 h 18288"/>
              <a:gd name="GluePoint21X" fmla="*/ 8818817 w 10853928"/>
              <a:gd name="GluePoint21Y" fmla="*/ 18288 h 18288"/>
              <a:gd name="GluePoint22X" fmla="*/ 8466064 w 10853928"/>
              <a:gd name="GluePoint22Y" fmla="*/ 18288 h 18288"/>
              <a:gd name="GluePoint23X" fmla="*/ 7787693 w 10853928"/>
              <a:gd name="GluePoint23Y" fmla="*/ 18288 h 18288"/>
              <a:gd name="GluePoint24X" fmla="*/ 7217862 w 10853928"/>
              <a:gd name="GluePoint24Y" fmla="*/ 18288 h 18288"/>
              <a:gd name="GluePoint25X" fmla="*/ 6648031 w 10853928"/>
              <a:gd name="GluePoint25Y" fmla="*/ 18288 h 18288"/>
              <a:gd name="GluePoint26X" fmla="*/ 6078200 w 10853928"/>
              <a:gd name="GluePoint26Y" fmla="*/ 18288 h 18288"/>
              <a:gd name="GluePoint27X" fmla="*/ 5508368 w 10853928"/>
              <a:gd name="GluePoint27Y" fmla="*/ 18288 h 18288"/>
              <a:gd name="GluePoint28X" fmla="*/ 4721459 w 10853928"/>
              <a:gd name="GluePoint28Y" fmla="*/ 18288 h 18288"/>
              <a:gd name="GluePoint29X" fmla="*/ 4043088 w 10853928"/>
              <a:gd name="GluePoint29Y" fmla="*/ 18288 h 18288"/>
              <a:gd name="GluePoint30X" fmla="*/ 3690336 w 10853928"/>
              <a:gd name="GluePoint30Y" fmla="*/ 18288 h 18288"/>
              <a:gd name="GluePoint31X" fmla="*/ 3120504 w 10853928"/>
              <a:gd name="GluePoint31Y" fmla="*/ 18288 h 18288"/>
              <a:gd name="GluePoint32X" fmla="*/ 2333595 w 10853928"/>
              <a:gd name="GluePoint32Y" fmla="*/ 18288 h 18288"/>
              <a:gd name="GluePoint33X" fmla="*/ 1872303 w 10853928"/>
              <a:gd name="GluePoint33Y" fmla="*/ 18288 h 18288"/>
              <a:gd name="GluePoint34X" fmla="*/ 976854 w 10853928"/>
              <a:gd name="GluePoint34Y" fmla="*/ 18288 h 18288"/>
              <a:gd name="GluePoint35X" fmla="*/ 0 w 10853928"/>
              <a:gd name="GluePoint35Y" fmla="*/ 18288 h 18288"/>
              <a:gd name="GluePoint36X" fmla="*/ 0 w 10853928"/>
              <a:gd name="GluePoint36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D7D3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9" name="Picture 2" descr="Inside KLE Technological University ..."/>
          <p:cNvPicPr/>
          <p:nvPr/>
        </p:nvPicPr>
        <p:blipFill>
          <a:blip r:embed="rId1"/>
          <a:stretch/>
        </p:blipFill>
        <p:spPr>
          <a:xfrm>
            <a:off x="9121320" y="100800"/>
            <a:ext cx="2893680" cy="138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2"/>
          <p:cNvSpPr/>
          <p:nvPr/>
        </p:nvSpPr>
        <p:spPr>
          <a:xfrm>
            <a:off x="118080" y="2235240"/>
            <a:ext cx="11404440" cy="41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Building the Categorizer Engine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Processed 116,000 Indian bank transactions (Kaggle Open Finance dataset).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Methodology: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Developed a rule-based engine to recognize specific Indian merchant names rather than relying on generic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Application: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The system actively identifies vendors like IRCTC, BookMyShow, BSES electricity boards, and Future Retail.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EG: IRCTC -&gt; Transport;     BookMyShow -&gt; Entertainment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17960" y="453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I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Data Engineering – Objective Benchmarking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3" name="sketch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8880" y="1677240"/>
            <a:ext cx="10853640" cy="18000"/>
          </a:xfrm>
          <a:custGeom>
            <a:avLst/>
            <a:gdLst>
              <a:gd name="textAreaLeft" fmla="*/ 0 w 10853640"/>
              <a:gd name="textAreaRight" fmla="*/ 10854000 w 10853640"/>
              <a:gd name="textAreaTop" fmla="*/ 0 h 18000"/>
              <a:gd name="textAreaBottom" fmla="*/ 18360 h 18000"/>
              <a:gd name="GluePoint1X" fmla="*/ 0 w 10853928"/>
              <a:gd name="GluePoint1Y" fmla="*/ 0 h 18288"/>
              <a:gd name="GluePoint2X" fmla="*/ 461292 w 10853928"/>
              <a:gd name="GluePoint2Y" fmla="*/ 0 h 18288"/>
              <a:gd name="GluePoint3X" fmla="*/ 1139662 w 10853928"/>
              <a:gd name="GluePoint3Y" fmla="*/ 0 h 18288"/>
              <a:gd name="GluePoint4X" fmla="*/ 1926572 w 10853928"/>
              <a:gd name="GluePoint4Y" fmla="*/ 0 h 18288"/>
              <a:gd name="GluePoint5X" fmla="*/ 2279325 w 10853928"/>
              <a:gd name="GluePoint5Y" fmla="*/ 0 h 18288"/>
              <a:gd name="GluePoint6X" fmla="*/ 2632078 w 10853928"/>
              <a:gd name="GluePoint6Y" fmla="*/ 0 h 18288"/>
              <a:gd name="GluePoint7X" fmla="*/ 3527527 w 10853928"/>
              <a:gd name="GluePoint7Y" fmla="*/ 0 h 18288"/>
              <a:gd name="GluePoint8X" fmla="*/ 4205897 w 10853928"/>
              <a:gd name="GluePoint8Y" fmla="*/ 0 h 18288"/>
              <a:gd name="GluePoint9X" fmla="*/ 4558650 w 10853928"/>
              <a:gd name="GluePoint9Y" fmla="*/ 0 h 18288"/>
              <a:gd name="GluePoint10X" fmla="*/ 5237020 w 10853928"/>
              <a:gd name="GluePoint10Y" fmla="*/ 0 h 18288"/>
              <a:gd name="GluePoint11X" fmla="*/ 6132469 w 10853928"/>
              <a:gd name="GluePoint11Y" fmla="*/ 0 h 18288"/>
              <a:gd name="GluePoint12X" fmla="*/ 6702301 w 10853928"/>
              <a:gd name="GluePoint12Y" fmla="*/ 0 h 18288"/>
              <a:gd name="GluePoint13X" fmla="*/ 7272132 w 10853928"/>
              <a:gd name="GluePoint13Y" fmla="*/ 0 h 18288"/>
              <a:gd name="GluePoint14X" fmla="*/ 7950502 w 10853928"/>
              <a:gd name="GluePoint14Y" fmla="*/ 0 h 18288"/>
              <a:gd name="GluePoint15X" fmla="*/ 8737412 w 10853928"/>
              <a:gd name="GluePoint15Y" fmla="*/ 0 h 18288"/>
              <a:gd name="GluePoint16X" fmla="*/ 9524322 w 10853928"/>
              <a:gd name="GluePoint16Y" fmla="*/ 0 h 18288"/>
              <a:gd name="GluePoint17X" fmla="*/ 10853928 w 10853928"/>
              <a:gd name="GluePoint17Y" fmla="*/ 0 h 18288"/>
              <a:gd name="GluePoint18X" fmla="*/ 10853928 w 10853928"/>
              <a:gd name="GluePoint18Y" fmla="*/ 18288 h 18288"/>
              <a:gd name="GluePoint19X" fmla="*/ 10392636 w 10853928"/>
              <a:gd name="GluePoint19Y" fmla="*/ 18288 h 18288"/>
              <a:gd name="GluePoint20X" fmla="*/ 9497187 w 10853928"/>
              <a:gd name="GluePoint20Y" fmla="*/ 18288 h 18288"/>
              <a:gd name="GluePoint21X" fmla="*/ 8818817 w 10853928"/>
              <a:gd name="GluePoint21Y" fmla="*/ 18288 h 18288"/>
              <a:gd name="GluePoint22X" fmla="*/ 8466064 w 10853928"/>
              <a:gd name="GluePoint22Y" fmla="*/ 18288 h 18288"/>
              <a:gd name="GluePoint23X" fmla="*/ 7787693 w 10853928"/>
              <a:gd name="GluePoint23Y" fmla="*/ 18288 h 18288"/>
              <a:gd name="GluePoint24X" fmla="*/ 7217862 w 10853928"/>
              <a:gd name="GluePoint24Y" fmla="*/ 18288 h 18288"/>
              <a:gd name="GluePoint25X" fmla="*/ 6648031 w 10853928"/>
              <a:gd name="GluePoint25Y" fmla="*/ 18288 h 18288"/>
              <a:gd name="GluePoint26X" fmla="*/ 6078200 w 10853928"/>
              <a:gd name="GluePoint26Y" fmla="*/ 18288 h 18288"/>
              <a:gd name="GluePoint27X" fmla="*/ 5508368 w 10853928"/>
              <a:gd name="GluePoint27Y" fmla="*/ 18288 h 18288"/>
              <a:gd name="GluePoint28X" fmla="*/ 4721459 w 10853928"/>
              <a:gd name="GluePoint28Y" fmla="*/ 18288 h 18288"/>
              <a:gd name="GluePoint29X" fmla="*/ 4043088 w 10853928"/>
              <a:gd name="GluePoint29Y" fmla="*/ 18288 h 18288"/>
              <a:gd name="GluePoint30X" fmla="*/ 3690336 w 10853928"/>
              <a:gd name="GluePoint30Y" fmla="*/ 18288 h 18288"/>
              <a:gd name="GluePoint31X" fmla="*/ 3120504 w 10853928"/>
              <a:gd name="GluePoint31Y" fmla="*/ 18288 h 18288"/>
              <a:gd name="GluePoint32X" fmla="*/ 2333595 w 10853928"/>
              <a:gd name="GluePoint32Y" fmla="*/ 18288 h 18288"/>
              <a:gd name="GluePoint33X" fmla="*/ 1872303 w 10853928"/>
              <a:gd name="GluePoint33Y" fmla="*/ 18288 h 18288"/>
              <a:gd name="GluePoint34X" fmla="*/ 976854 w 10853928"/>
              <a:gd name="GluePoint34Y" fmla="*/ 18288 h 18288"/>
              <a:gd name="GluePoint35X" fmla="*/ 0 w 10853928"/>
              <a:gd name="GluePoint35Y" fmla="*/ 18288 h 18288"/>
              <a:gd name="GluePoint36X" fmla="*/ 0 w 10853928"/>
              <a:gd name="GluePoint36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</a:cxnLst>
            <a:rect l="textAreaLeft" t="textAreaTop" r="textAreaRight" b="textAreaBottom"/>
            <a:pathLst>
              <a:path fill="none" w="10853928" h="1828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stroke="0" w="10853928" h="1828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w="41275">
            <a:solidFill>
              <a:srgbClr val="ED7D3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2" descr="Inside KLE Technological University ..."/>
          <p:cNvPicPr/>
          <p:nvPr/>
        </p:nvPicPr>
        <p:blipFill>
          <a:blip r:embed="rId1"/>
          <a:stretch/>
        </p:blipFill>
        <p:spPr>
          <a:xfrm>
            <a:off x="10297800" y="0"/>
            <a:ext cx="1806840" cy="93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368640" y="1995120"/>
            <a:ext cx="11405160" cy="4317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0" rIns="91440" bIns="45720" anchor="ctr">
            <a:sp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HCES 2023-24 Integration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Shift: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Moved from synthetic estimates to actual government survey data (HCES 2023-24) to power our comparison metrics.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Tier-Based Accuracy: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The system dynamically adjusts benchmarks based on the user's selected city tier (e.g., Tier 1 vs. Tier 2).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Real-World Context: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When the app displays </a:t>
            </a: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"You vs. typical household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," it uses citable numbers—such as the data showing the average urban Indian spends 40% of their budget on food and 8.5% on transport.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We Didn't Train an ML Model: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Our datasets are aggregate statistics and corporate transaction logs, which lack the required ground-truth labels (individual financial health outcomes) necessary for supervised learning.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80240" y="25390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8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Thank You</a:t>
            </a:r>
            <a:endParaRPr lang="en-U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LibreOffice_project/d4d5ed47b6084125f28d269a5650105d54dde034</Application>
  <AppVersion>15.0000</AppVersion>
  <Words>1504</Words>
  <Paragraphs>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2026-04-05T20:19:26Z</dcterms:created>
  <dc:creator>pranavi naik</dc:creator>
  <dc:description/>
  <dc:language>en-US</dc:language>
  <cp:lastModifiedBy/>
  <dcterms:modified xsi:type="dcterms:W3CDTF">2026-05-31T07:38:55Z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Widescreen</vt:lpwstr>
  </property>
  <property fmtid="{D5CDD505-2E9C-101B-9397-08002B2CF9AE}" pid="4" name="Slides">
    <vt:i4>11</vt:i4>
  </property>
</Properties>
</file>