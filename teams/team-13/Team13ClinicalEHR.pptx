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al MT Pro Bold" charset="1" panose="020B0802020202020204"/>
      <p:regular r:id="rId20"/>
    </p:embeddedFont>
    <p:embeddedFont>
      <p:font typeface="Arial MT Pro" charset="1" panose="020B0502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6191" y="2141808"/>
            <a:ext cx="15675618" cy="397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71"/>
              </a:lnSpc>
            </a:pPr>
            <a:r>
              <a:rPr lang="en-US" b="true" sz="9771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CLINICAL TRIAL ELIGIBILITY SCREENER USING NLP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337882" y="6756341"/>
            <a:ext cx="9366105" cy="13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</a:pPr>
            <a:r>
              <a:rPr lang="en-US" sz="367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GUIDE:</a:t>
            </a:r>
          </a:p>
          <a:p>
            <a:pPr algn="ctr">
              <a:lnSpc>
                <a:spcPts val="5148"/>
              </a:lnSpc>
            </a:pPr>
            <a:r>
              <a:rPr lang="en-US" sz="367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DR. GURUPRASAD KONNURMATH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4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GENAI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393094" y="3086100"/>
          <a:ext cx="15613047" cy="5038725"/>
        </p:xfrm>
        <a:graphic>
          <a:graphicData uri="http://schemas.openxmlformats.org/drawingml/2006/table">
            <a:tbl>
              <a:tblPr/>
              <a:tblGrid>
                <a:gridCol w="2414690"/>
                <a:gridCol w="5697839"/>
                <a:gridCol w="2160911"/>
                <a:gridCol w="5339606"/>
              </a:tblGrid>
              <a:tr h="10269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SLNO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ROLL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USN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9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Manjunath S 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01FE23BCS248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9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Sanmati U Shinganmakki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01FE23BCS290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09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Nishita P Jahagirdar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01FE23BCS123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9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Spoorthi L 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01FE23BCS255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3094" y="780695"/>
            <a:ext cx="14891245" cy="156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5"/>
              </a:lnSpc>
            </a:pPr>
            <a:r>
              <a:rPr lang="en-US" b="true" sz="4975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DETAILS</a:t>
            </a:r>
          </a:p>
          <a:p>
            <a:pPr algn="ctr">
              <a:lnSpc>
                <a:spcPts val="4865"/>
              </a:lnSpc>
            </a:pPr>
            <a:r>
              <a:rPr lang="en-US" b="true" sz="3475">
                <a:solidFill>
                  <a:srgbClr val="A3B18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NO: A13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29453" y="475298"/>
            <a:ext cx="908300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605680"/>
            <a:ext cx="162306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Matching patients to clinical tr</a:t>
            </a: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ials requires parsing complex inclusion/exclusion criteria written in dense medical prose. Build a GenAl system that takes a patient's EHR summary and a set of clinical trial eligibility criteria, and produces a structured eligibility report with criterion-level match/no-match decisions and rationale.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87328"/>
            <a:ext cx="14253076" cy="528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Matching patients t</a:t>
            </a: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o clinical trials is difficult because: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Trial eligibility criteria written in complex medical language.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Manual screening takes time.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Human errors  during matching.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Clinicians must compare large EHR records with lengthy trial protocols.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Proposed Solution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Develop an AI-powered system that: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Reads Patient EHR data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Reads Clinical Trial Criteria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Automatically evaluates eligibility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Generates detailed decision reports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71412" y="475298"/>
            <a:ext cx="908300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84069"/>
            <a:ext cx="16230600" cy="457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sz="26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Extract patient information from EHR</a:t>
            </a:r>
          </a:p>
          <a:p>
            <a:pPr algn="l">
              <a:lnSpc>
                <a:spcPts val="4049"/>
              </a:lnSpc>
            </a:pP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sz="26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Parse inclusion and exclusion criteria</a:t>
            </a:r>
          </a:p>
          <a:p>
            <a:pPr algn="l">
              <a:lnSpc>
                <a:spcPts val="4049"/>
              </a:lnSpc>
            </a:pP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sz="26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Match eligible patients for clinical trials using NLP</a:t>
            </a:r>
          </a:p>
          <a:p>
            <a:pPr algn="l">
              <a:lnSpc>
                <a:spcPts val="4049"/>
              </a:lnSpc>
            </a:pP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sz="26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Generate criterion-level decisions</a:t>
            </a:r>
          </a:p>
          <a:p>
            <a:pPr algn="l">
              <a:lnSpc>
                <a:spcPts val="4049"/>
              </a:lnSpc>
            </a:pPr>
          </a:p>
          <a:p>
            <a:pPr algn="l" marL="582925" indent="-291463" lvl="1">
              <a:lnSpc>
                <a:spcPts val="4049"/>
              </a:lnSpc>
              <a:buFont typeface="Arial"/>
              <a:buChar char="•"/>
            </a:pPr>
            <a:r>
              <a:rPr lang="en-US" sz="2699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Export professional reports in DOCX format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82368" y="838200"/>
            <a:ext cx="9709568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79315"/>
            <a:ext cx="14843436" cy="568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true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 Modules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Presentation Layer: </a:t>
            </a: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Streamlit UI for EHR &amp; Trial upload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Da</a:t>
            </a: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ta Processing Layer: OCR, NLP preprocessing, feature extraction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Intelligence Layer: </a:t>
            </a: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G</a:t>
            </a: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emini LLM for eligibility analysis and rationale generation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Decision Engine: Match / No Match / Uncertain classification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Output Layer: Eligibility report and DOCX export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86461" y="112395"/>
            <a:ext cx="8459745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36727" y="1256555"/>
            <a:ext cx="13614545" cy="7419927"/>
          </a:xfrm>
          <a:custGeom>
            <a:avLst/>
            <a:gdLst/>
            <a:ahLst/>
            <a:cxnLst/>
            <a:rect r="r" b="b" t="t" l="l"/>
            <a:pathLst>
              <a:path h="7419927" w="13614545">
                <a:moveTo>
                  <a:pt x="0" y="0"/>
                </a:moveTo>
                <a:lnTo>
                  <a:pt x="13614546" y="0"/>
                </a:lnTo>
                <a:lnTo>
                  <a:pt x="13614546" y="7419927"/>
                </a:lnTo>
                <a:lnTo>
                  <a:pt x="0" y="7419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2956" y="8660686"/>
            <a:ext cx="16186344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Fig 1: patient EHR and trial criteria flow through four layers — input, processing, AI analysis, and report generation.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252434" y="2250068"/>
            <a:ext cx="9834756" cy="5590449"/>
          </a:xfrm>
          <a:custGeom>
            <a:avLst/>
            <a:gdLst/>
            <a:ahLst/>
            <a:cxnLst/>
            <a:rect r="r" b="b" t="t" l="l"/>
            <a:pathLst>
              <a:path h="5590449" w="9834756">
                <a:moveTo>
                  <a:pt x="0" y="0"/>
                </a:moveTo>
                <a:lnTo>
                  <a:pt x="9834756" y="0"/>
                </a:lnTo>
                <a:lnTo>
                  <a:pt x="9834756" y="5590450"/>
                </a:lnTo>
                <a:lnTo>
                  <a:pt x="0" y="5590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68769" y="475298"/>
            <a:ext cx="9709568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2441" y="2269790"/>
            <a:ext cx="7749993" cy="38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Workflow </a:t>
            </a: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Stages</a:t>
            </a:r>
          </a:p>
          <a:p>
            <a:pPr algn="l" marL="610356" indent="-305178" lvl="1">
              <a:lnSpc>
                <a:spcPts val="4240"/>
              </a:lnSpc>
              <a:buAutoNum type="arabicPeriod" startAt="1"/>
            </a:pP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Da</a:t>
            </a: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ta Ingestion</a:t>
            </a:r>
          </a:p>
          <a:p>
            <a:pPr algn="l" marL="610356" indent="-305178" lvl="1">
              <a:lnSpc>
                <a:spcPts val="4240"/>
              </a:lnSpc>
              <a:buAutoNum type="arabicPeriod" startAt="1"/>
            </a:pP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Core Processing</a:t>
            </a:r>
          </a:p>
          <a:p>
            <a:pPr algn="l" marL="610356" indent="-305178" lvl="1">
              <a:lnSpc>
                <a:spcPts val="4240"/>
              </a:lnSpc>
              <a:buAutoNum type="arabicPeriod" startAt="1"/>
            </a:pP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S</a:t>
            </a: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emantic Evaluation</a:t>
            </a:r>
          </a:p>
          <a:p>
            <a:pPr algn="l" marL="610356" indent="-305178" lvl="1">
              <a:lnSpc>
                <a:spcPts val="4240"/>
              </a:lnSpc>
              <a:buAutoNum type="arabicPeriod" startAt="1"/>
            </a:pP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Output Delivery</a:t>
            </a:r>
          </a:p>
          <a:p>
            <a:pPr algn="l">
              <a:lnSpc>
                <a:spcPts val="4240"/>
              </a:lnSpc>
            </a:pP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The workflow tr</a:t>
            </a:r>
            <a:r>
              <a:rPr lang="en-US" sz="2827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ansforms raw medical documents into structured eligibility reports.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51624" y="8014104"/>
            <a:ext cx="10236376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Fig 2: pipeline converting raw medical data into validated eligibility decisions and downloadable reports.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7332" y="475298"/>
            <a:ext cx="12998717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CORE MODULES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3218" y="2187979"/>
            <a:ext cx="5324113" cy="568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Patient EHR Reader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Cr</a:t>
            </a: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iteria Segmenter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NLP Router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Doubl</a:t>
            </a: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e Engine Matcher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Gemini AI Engine</a:t>
            </a:r>
          </a:p>
          <a:p>
            <a:pPr algn="l">
              <a:lnSpc>
                <a:spcPts val="4050"/>
              </a:lnSpc>
            </a:pPr>
          </a:p>
          <a:p>
            <a:pPr algn="l" marL="582930" indent="-291465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Pyd</a:t>
            </a:r>
            <a:r>
              <a:rPr lang="en-US" sz="27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antic Validator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40312" y="4463267"/>
          <a:ext cx="7315200" cy="4114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Condition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All Inclusion Met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Eligible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Any Exclusion Match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Ineligible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Missing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Uncertain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61748" y="593248"/>
            <a:ext cx="12998717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ELIGIBILITY DECISION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29954"/>
            <a:ext cx="7854809" cy="279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 b="true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Inclusion Analysi</a:t>
            </a:r>
            <a:r>
              <a:rPr lang="en-US" sz="2900" b="true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s: 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Pa</a:t>
            </a:r>
            <a:r>
              <a:rPr lang="en-US" sz="29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</a:t>
            </a:r>
            <a:r>
              <a:rPr lang="en-US" sz="29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ient mu</a:t>
            </a:r>
            <a:r>
              <a:rPr lang="en-US" sz="29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s</a:t>
            </a:r>
            <a:r>
              <a:rPr lang="en-US" sz="29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 satisfy required inclusion rules.</a:t>
            </a:r>
          </a:p>
          <a:p>
            <a:pPr algn="l">
              <a:lnSpc>
                <a:spcPts val="4350"/>
              </a:lnSpc>
            </a:pPr>
          </a:p>
          <a:p>
            <a:pPr algn="l">
              <a:lnSpc>
                <a:spcPts val="4350"/>
              </a:lnSpc>
            </a:pPr>
            <a:r>
              <a:rPr lang="en-US" sz="2900" b="true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Exclus</a:t>
            </a:r>
            <a:r>
              <a:rPr lang="en-US" sz="2900" b="true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ion Analysis: 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Ch</a:t>
            </a:r>
            <a:r>
              <a:rPr lang="en-US" sz="29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ecks disqualifying conditions.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40312" y="3283108"/>
            <a:ext cx="73152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b="true" sz="2999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Decision Matrix:</a:t>
            </a:r>
            <a:r>
              <a:rPr lang="en-US" b="true" sz="2999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25033" y="472916"/>
            <a:ext cx="12998717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TECHNOLOGY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4912" y="1817846"/>
            <a:ext cx="13376773" cy="68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Python</a:t>
            </a:r>
          </a:p>
          <a:p>
            <a:pPr algn="l">
              <a:lnSpc>
                <a:spcPts val="3600"/>
              </a:lnSpc>
            </a:pPr>
          </a:p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S</a:t>
            </a: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treamlit</a:t>
            </a:r>
          </a:p>
          <a:p>
            <a:pPr algn="l">
              <a:lnSpc>
                <a:spcPts val="3600"/>
              </a:lnSpc>
            </a:pPr>
          </a:p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Google Gemini 1.5 Pro</a:t>
            </a:r>
          </a:p>
          <a:p>
            <a:pPr algn="l">
              <a:lnSpc>
                <a:spcPts val="3600"/>
              </a:lnSpc>
            </a:pPr>
          </a:p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La</a:t>
            </a: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ngChain</a:t>
            </a:r>
          </a:p>
          <a:p>
            <a:pPr algn="l">
              <a:lnSpc>
                <a:spcPts val="3600"/>
              </a:lnSpc>
            </a:pPr>
          </a:p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Py</a:t>
            </a: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dantic</a:t>
            </a:r>
          </a:p>
          <a:p>
            <a:pPr algn="l">
              <a:lnSpc>
                <a:spcPts val="3600"/>
              </a:lnSpc>
            </a:pPr>
          </a:p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Pandas</a:t>
            </a:r>
          </a:p>
          <a:p>
            <a:pPr algn="l">
              <a:lnSpc>
                <a:spcPts val="3600"/>
              </a:lnSpc>
            </a:pPr>
          </a:p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PyPDF2</a:t>
            </a:r>
          </a:p>
          <a:p>
            <a:pPr algn="l">
              <a:lnSpc>
                <a:spcPts val="3600"/>
              </a:lnSpc>
            </a:pPr>
          </a:p>
          <a:p>
            <a:pPr algn="l" marL="518162" indent="-259081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python-docx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833944" y="1270667"/>
            <a:ext cx="14620113" cy="7312152"/>
          </a:xfrm>
          <a:custGeom>
            <a:avLst/>
            <a:gdLst/>
            <a:ahLst/>
            <a:cxnLst/>
            <a:rect r="r" b="b" t="t" l="l"/>
            <a:pathLst>
              <a:path h="7312152" w="14620113">
                <a:moveTo>
                  <a:pt x="0" y="0"/>
                </a:moveTo>
                <a:lnTo>
                  <a:pt x="14620112" y="0"/>
                </a:lnTo>
                <a:lnTo>
                  <a:pt x="14620112" y="7312152"/>
                </a:lnTo>
                <a:lnTo>
                  <a:pt x="0" y="731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28" r="0" b="-673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79248" y="162020"/>
            <a:ext cx="12998717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90966" y="8613855"/>
            <a:ext cx="2506067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Fig 3.1: Demo f UI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82372" y="1225733"/>
            <a:ext cx="14723256" cy="7359547"/>
          </a:xfrm>
          <a:custGeom>
            <a:avLst/>
            <a:gdLst/>
            <a:ahLst/>
            <a:cxnLst/>
            <a:rect r="r" b="b" t="t" l="l"/>
            <a:pathLst>
              <a:path h="7359547" w="14723256">
                <a:moveTo>
                  <a:pt x="0" y="0"/>
                </a:moveTo>
                <a:lnTo>
                  <a:pt x="14723256" y="0"/>
                </a:lnTo>
                <a:lnTo>
                  <a:pt x="14723256" y="7359547"/>
                </a:lnTo>
                <a:lnTo>
                  <a:pt x="0" y="7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74" r="0" b="-665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91369" y="109271"/>
            <a:ext cx="12998717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90966" y="8613855"/>
            <a:ext cx="2506067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Fig 3.2: Demo f UI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38039" y="1210251"/>
            <a:ext cx="14811922" cy="7345877"/>
          </a:xfrm>
          <a:custGeom>
            <a:avLst/>
            <a:gdLst/>
            <a:ahLst/>
            <a:cxnLst/>
            <a:rect r="r" b="b" t="t" l="l"/>
            <a:pathLst>
              <a:path h="7345877" w="14811922">
                <a:moveTo>
                  <a:pt x="0" y="0"/>
                </a:moveTo>
                <a:lnTo>
                  <a:pt x="14811922" y="0"/>
                </a:lnTo>
                <a:lnTo>
                  <a:pt x="14811922" y="7345877"/>
                </a:lnTo>
                <a:lnTo>
                  <a:pt x="0" y="7345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15" r="0" b="-710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70915" y="112395"/>
            <a:ext cx="12998717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344E4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90966" y="8613855"/>
            <a:ext cx="2506067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Fig 3.3: Demo f UI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6554" y="3435769"/>
            <a:ext cx="12734892" cy="174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11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91936" y="9472757"/>
            <a:ext cx="316736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Arial MT Pro"/>
                <a:ea typeface="Arial MT Pro"/>
                <a:cs typeface="Arial MT Pro"/>
                <a:sym typeface="Arial MT Pr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DAHLKmfDO0k</dc:identifier>
  <dcterms:modified xsi:type="dcterms:W3CDTF">2011-08-01T06:04:30Z</dcterms:modified>
  <cp:revision>1</cp:revision>
  <dc:title>GENAI</dc:title>
</cp:coreProperties>
</file>