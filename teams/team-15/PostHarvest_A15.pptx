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qVsNvhZ1/DBJE1LDnksp6/hXu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8BC66E-35DF-4A6E-80C4-8D4A0E7D4EA3}">
  <a:tblStyle styleId="{FE8BC66E-35DF-4A6E-80C4-8D4A0E7D4EA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b76500eef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eb76500eef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eb76500eef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15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10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D_caX8ilyQRcUBRPAFQWAvVh98RWCkYA/view" TargetMode="External"/><Relationship Id="rId4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D6A4F">
              <a:alpha val="40000"/>
            </a:srgbClr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40916C">
              <a:alpha val="30196"/>
            </a:srgbClr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5943600" y="-457200"/>
            <a:ext cx="1828800" cy="1828800"/>
          </a:xfrm>
          <a:prstGeom prst="ellipse">
            <a:avLst/>
          </a:prstGeom>
          <a:solidFill>
            <a:srgbClr val="74C69D">
              <a:alpha val="34901"/>
            </a:srgbClr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373380" y="795528"/>
            <a:ext cx="8046720" cy="2194560"/>
          </a:xfrm>
          <a:prstGeom prst="rect">
            <a:avLst/>
          </a:prstGeom>
          <a:solidFill>
            <a:srgbClr val="2D6A4F">
              <a:alpha val="70196"/>
            </a:srgbClr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548640" y="822960"/>
            <a:ext cx="80467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Post-Harvest Loss Reduction Advisor using GenAI 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14400" y="315468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4C69D"/>
                </a:solidFill>
                <a:latin typeface="Calibri"/>
                <a:ea typeface="Calibri"/>
                <a:cs typeface="Calibri"/>
                <a:sym typeface="Calibri"/>
              </a:rPr>
              <a:t>Leveraging Generative AI, RAG &amp; Regional Language Support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4C69D"/>
                </a:solidFill>
                <a:latin typeface="Calibri"/>
                <a:ea typeface="Calibri"/>
                <a:cs typeface="Calibri"/>
                <a:sym typeface="Calibri"/>
              </a:rPr>
              <a:t>for Smart Agricultural Decision-Making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344E41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395020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Team A15  |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Prasanna Anagal  •  Sahana R  •  Rachana Rane  •  Vindhya Hegde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E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ECEF"/>
                </a:solidFill>
                <a:latin typeface="Calibri"/>
                <a:ea typeface="Calibri"/>
                <a:cs typeface="Calibri"/>
                <a:sym typeface="Calibri"/>
              </a:rPr>
              <a:t>01fe23bcs097  •  01fe23bcs138  •  01fe23bcs150  •  01fe23bcs160  </a:t>
            </a:r>
            <a:r>
              <a:rPr b="0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| Domain 3: Agriculture &amp; Rural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40" y="137160"/>
            <a:ext cx="640080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FFE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182880"/>
            <a:ext cx="91440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274320" y="868680"/>
            <a:ext cx="4114800" cy="32004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Why Farmers Lose Crops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325880"/>
            <a:ext cx="37490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Poor storage practices &amp; facilities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No knowledge of government schemes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Limited access to weather forecasts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Language barriers to technical info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Lack of personalised advisories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754880" y="868680"/>
            <a:ext cx="4114800" cy="3200400"/>
          </a:xfrm>
          <a:prstGeom prst="rect">
            <a:avLst/>
          </a:prstGeom>
          <a:solidFill>
            <a:srgbClr val="FFF3E0"/>
          </a:solidFill>
          <a:ln cap="flat" cmpd="sng" w="1905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754880" y="8686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Consequences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937760" y="1325880"/>
            <a:ext cx="37490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~16% post-harvest food grain loss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Reduced crop quality &amp; shelf life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Severe financial losses to farmers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Large-scale food wastage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Inefficient supply chain management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4251960"/>
            <a:ext cx="1828800" cy="640080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48640" y="42519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🌾 Harvest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2377440" y="457200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" name="Google Shape;37;p2"/>
          <p:cNvSpPr/>
          <p:nvPr/>
        </p:nvSpPr>
        <p:spPr>
          <a:xfrm>
            <a:off x="2697480" y="4251960"/>
            <a:ext cx="1828800" cy="64008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2697480" y="42519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Improper Storage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4526280" y="457200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" name="Google Shape;40;p2"/>
          <p:cNvSpPr/>
          <p:nvPr/>
        </p:nvSpPr>
        <p:spPr>
          <a:xfrm>
            <a:off x="4846320" y="4251960"/>
            <a:ext cx="1828800" cy="64008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846320" y="42519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🐛 Crop Loss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6675120" y="457200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" name="Google Shape;43;p2"/>
          <p:cNvSpPr/>
          <p:nvPr/>
        </p:nvSpPr>
        <p:spPr>
          <a:xfrm>
            <a:off x="6995160" y="4251960"/>
            <a:ext cx="1828800" cy="64008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995160" y="42519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💸 Reduced Income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FFE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0" y="182880"/>
            <a:ext cx="91440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This System is Needed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" name="Google Shape;51;p3"/>
          <p:cNvGraphicFramePr/>
          <p:nvPr/>
        </p:nvGraphicFramePr>
        <p:xfrm>
          <a:off x="32004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{FE8BC66E-35DF-4A6E-80C4-8D4A0E7D4EA3}</a:tableStyleId>
              </a:tblPr>
              <a:tblGrid>
                <a:gridCol w="2194550"/>
                <a:gridCol w="3108950"/>
                <a:gridCol w="32004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Aspect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Traditional Method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AI-Powered System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6A4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Information Access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Scattered, hard to find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Centralised, instant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3DC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Language Support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English only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344E41"/>
                          </a:solidFill>
                        </a:rPr>
                        <a:t>English</a:t>
                      </a: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 + regional languages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Personalisation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Generic advice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Crop &amp; region specific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3DC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Scheme Awareness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Farmer must search manually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Auto-checked eligibility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Storage Guidance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Word of mouth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Data-driven AI advisory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3DC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Report Generation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Not available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E4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44E41"/>
                          </a:solidFill>
                        </a:rPr>
                        <a:t>Downloadable DOCX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D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FFE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/>
          <p:nvPr/>
        </p:nvSpPr>
        <p:spPr>
          <a:xfrm>
            <a:off x="0" y="182880"/>
            <a:ext cx="91440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20040" y="96012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10972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411480" y="1801368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Crop-Specific Storage Recommendations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3172968" y="96012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8808" y="10972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/>
          <p:cNvSpPr/>
          <p:nvPr/>
        </p:nvSpPr>
        <p:spPr>
          <a:xfrm>
            <a:off x="3264408" y="1801368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Weather-Aware Storage Risk Prediction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025896" y="96012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1736" y="10972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6117336" y="1801368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Government Scheme Eligibility Check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320040" y="288036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23E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5880" y="30175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411480" y="3721608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Multilingual Natural Language Queries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172968" y="288036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78808" y="30175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/>
          <p:nvPr/>
        </p:nvSpPr>
        <p:spPr>
          <a:xfrm>
            <a:off x="3264408" y="3721608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Downloadable Advisory Reports (DOCX)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025896" y="288036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31736" y="30175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6117336" y="3721608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Reduced Post-Harvest Losses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FFE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0" y="182880"/>
            <a:ext cx="91440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 Solution Overview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74320" y="841248"/>
            <a:ext cx="4114800" cy="406908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274320" y="841248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System Components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7200" y="1298448"/>
            <a:ext cx="374904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Generative AI (Groq LLM)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RAG – Retrieval-Augmented Generation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ChromaDB Vector Database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IndicTrans2 Translation Engine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python-docx Report Generator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Streamlit Web Interface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754880" y="841248"/>
            <a:ext cx="4114800" cy="4069080"/>
          </a:xfrm>
          <a:prstGeom prst="rect">
            <a:avLst/>
          </a:prstGeom>
          <a:solidFill>
            <a:srgbClr val="E8F4FD"/>
          </a:solidFill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754880" y="841248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System Capabilities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937760" y="1298448"/>
            <a:ext cx="374904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Understand farmer queries in natural language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Generate personalised management plans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Respond in Kannada or English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Export advisory as DOCX report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Check government scheme eligibility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FFE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182880"/>
            <a:ext cx="91440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200400" y="804672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Farmer (Streamlit UI)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" y="880074"/>
            <a:ext cx="7543801" cy="4139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FFE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550"/>
            <a:ext cx="9144000" cy="5150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FFE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4766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FFE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/>
          <p:nvPr/>
        </p:nvSpPr>
        <p:spPr>
          <a:xfrm>
            <a:off x="0" y="182880"/>
            <a:ext cx="91440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Flow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365760" y="804672"/>
            <a:ext cx="3474600" cy="502800"/>
          </a:xfrm>
          <a:prstGeom prst="rect">
            <a:avLst/>
          </a:prstGeom>
          <a:solidFill>
            <a:srgbClr val="023E8A"/>
          </a:solidFill>
          <a:ln cap="flat" cmpd="sng" w="12700">
            <a:solidFill>
              <a:srgbClr val="023E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457200" y="804672"/>
            <a:ext cx="329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Farmer Enters details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9"/>
          <p:cNvCxnSpPr/>
          <p:nvPr/>
        </p:nvCxnSpPr>
        <p:spPr>
          <a:xfrm>
            <a:off x="2103120" y="1307592"/>
            <a:ext cx="0" cy="164700"/>
          </a:xfrm>
          <a:prstGeom prst="straightConnector1">
            <a:avLst/>
          </a:prstGeom>
          <a:noFill/>
          <a:ln cap="flat" cmpd="sng" w="1905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" name="Google Shape;117;p9"/>
          <p:cNvSpPr/>
          <p:nvPr/>
        </p:nvSpPr>
        <p:spPr>
          <a:xfrm>
            <a:off x="365760" y="1472184"/>
            <a:ext cx="3474600" cy="50280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457200" y="1472184"/>
            <a:ext cx="329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Structured Query Format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9"/>
          <p:cNvCxnSpPr/>
          <p:nvPr/>
        </p:nvCxnSpPr>
        <p:spPr>
          <a:xfrm>
            <a:off x="2103120" y="1975104"/>
            <a:ext cx="0" cy="164700"/>
          </a:xfrm>
          <a:prstGeom prst="straightConnector1">
            <a:avLst/>
          </a:prstGeom>
          <a:noFill/>
          <a:ln cap="flat" cmpd="sng" w="1905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9"/>
          <p:cNvSpPr/>
          <p:nvPr/>
        </p:nvSpPr>
        <p:spPr>
          <a:xfrm>
            <a:off x="365760" y="2139696"/>
            <a:ext cx="3474600" cy="502800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457200" y="2139696"/>
            <a:ext cx="329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Embedding Generation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9"/>
          <p:cNvCxnSpPr/>
          <p:nvPr/>
        </p:nvCxnSpPr>
        <p:spPr>
          <a:xfrm>
            <a:off x="2103120" y="2642616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" name="Google Shape;123;p9"/>
          <p:cNvSpPr/>
          <p:nvPr/>
        </p:nvSpPr>
        <p:spPr>
          <a:xfrm>
            <a:off x="365760" y="2807208"/>
            <a:ext cx="3474600" cy="50280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57200" y="2807208"/>
            <a:ext cx="329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Similarity Search (ChromaDB)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9"/>
          <p:cNvCxnSpPr/>
          <p:nvPr/>
        </p:nvCxnSpPr>
        <p:spPr>
          <a:xfrm>
            <a:off x="2103120" y="331012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" name="Google Shape;126;p9"/>
          <p:cNvSpPr/>
          <p:nvPr/>
        </p:nvSpPr>
        <p:spPr>
          <a:xfrm>
            <a:off x="365760" y="3474720"/>
            <a:ext cx="3474720" cy="50292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457200" y="34747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Relevant Docs Retrieved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303520" y="804672"/>
            <a:ext cx="3474720" cy="502920"/>
          </a:xfrm>
          <a:prstGeom prst="rect">
            <a:avLst/>
          </a:prstGeom>
          <a:solidFill>
            <a:srgbClr val="023E8A"/>
          </a:solidFill>
          <a:ln cap="flat" cmpd="sng" w="12700">
            <a:solidFill>
              <a:srgbClr val="023E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5394960" y="804672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Groq LLM Inference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9"/>
          <p:cNvCxnSpPr/>
          <p:nvPr/>
        </p:nvCxnSpPr>
        <p:spPr>
          <a:xfrm>
            <a:off x="7040880" y="1307592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" name="Google Shape;131;p9"/>
          <p:cNvSpPr/>
          <p:nvPr/>
        </p:nvSpPr>
        <p:spPr>
          <a:xfrm>
            <a:off x="5303520" y="1472184"/>
            <a:ext cx="3474720" cy="50292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5394960" y="1472184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 Structured Recommendation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9"/>
          <p:cNvCxnSpPr/>
          <p:nvPr/>
        </p:nvCxnSpPr>
        <p:spPr>
          <a:xfrm>
            <a:off x="7040880" y="1975104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" name="Google Shape;134;p9"/>
          <p:cNvSpPr/>
          <p:nvPr/>
        </p:nvSpPr>
        <p:spPr>
          <a:xfrm>
            <a:off x="5303520" y="2139696"/>
            <a:ext cx="3474720" cy="50292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5394960" y="2139696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  Translation (if Kannada)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9"/>
          <p:cNvCxnSpPr/>
          <p:nvPr/>
        </p:nvCxnSpPr>
        <p:spPr>
          <a:xfrm>
            <a:off x="7040880" y="2642616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" name="Google Shape;137;p9"/>
          <p:cNvSpPr/>
          <p:nvPr/>
        </p:nvSpPr>
        <p:spPr>
          <a:xfrm>
            <a:off x="5303520" y="2807208"/>
            <a:ext cx="3474720" cy="50292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5394960" y="280720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Report Generation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9"/>
          <p:cNvCxnSpPr/>
          <p:nvPr/>
        </p:nvCxnSpPr>
        <p:spPr>
          <a:xfrm>
            <a:off x="7040880" y="331012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" name="Google Shape;140;p9"/>
          <p:cNvSpPr/>
          <p:nvPr/>
        </p:nvSpPr>
        <p:spPr>
          <a:xfrm>
            <a:off x="5303520" y="3474720"/>
            <a:ext cx="3474720" cy="50292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5394960" y="34747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Final Response to Farmer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9"/>
          <p:cNvCxnSpPr>
            <a:stCxn id="127" idx="3"/>
          </p:cNvCxnSpPr>
          <p:nvPr/>
        </p:nvCxnSpPr>
        <p:spPr>
          <a:xfrm flipH="1" rot="10800000">
            <a:off x="3749040" y="832980"/>
            <a:ext cx="1536600" cy="2893200"/>
          </a:xfrm>
          <a:prstGeom prst="straightConnector1">
            <a:avLst/>
          </a:prstGeom>
          <a:noFill/>
          <a:ln cap="flat" cmpd="sng" w="1905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FFE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/>
          <p:nvPr/>
        </p:nvSpPr>
        <p:spPr>
          <a:xfrm>
            <a:off x="0" y="182880"/>
            <a:ext cx="91440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Workflow — Retrieval-Augmented Generation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OFFLINE: Knowledge Ingestion Pipeline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320040" y="1115568"/>
            <a:ext cx="1554480" cy="100584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320040" y="1115568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Document Collection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(ICAR, NABARD, FAO)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10"/>
          <p:cNvCxnSpPr/>
          <p:nvPr/>
        </p:nvCxnSpPr>
        <p:spPr>
          <a:xfrm>
            <a:off x="1874520" y="161848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D6A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4" name="Google Shape;154;p10"/>
          <p:cNvSpPr/>
          <p:nvPr/>
        </p:nvSpPr>
        <p:spPr>
          <a:xfrm>
            <a:off x="2039112" y="1115568"/>
            <a:ext cx="1554480" cy="100584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2039112" y="1115568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&amp; Pre-processing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10"/>
          <p:cNvCxnSpPr/>
          <p:nvPr/>
        </p:nvCxnSpPr>
        <p:spPr>
          <a:xfrm>
            <a:off x="3593592" y="161848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D6A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10"/>
          <p:cNvSpPr/>
          <p:nvPr/>
        </p:nvSpPr>
        <p:spPr>
          <a:xfrm>
            <a:off x="3758184" y="1115568"/>
            <a:ext cx="1554480" cy="100584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3758184" y="1115568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Text Chunking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(500 tokens)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10"/>
          <p:cNvCxnSpPr/>
          <p:nvPr/>
        </p:nvCxnSpPr>
        <p:spPr>
          <a:xfrm>
            <a:off x="5312664" y="161848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D6A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p10"/>
          <p:cNvSpPr/>
          <p:nvPr/>
        </p:nvSpPr>
        <p:spPr>
          <a:xfrm>
            <a:off x="5477256" y="1115568"/>
            <a:ext cx="1554480" cy="100584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5477256" y="1115568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10"/>
          <p:cNvCxnSpPr/>
          <p:nvPr/>
        </p:nvCxnSpPr>
        <p:spPr>
          <a:xfrm>
            <a:off x="7031736" y="161848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D6A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" name="Google Shape;163;p10"/>
          <p:cNvSpPr/>
          <p:nvPr/>
        </p:nvSpPr>
        <p:spPr>
          <a:xfrm>
            <a:off x="7196328" y="1115568"/>
            <a:ext cx="1554480" cy="100584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7196328" y="1115568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274320" y="2331720"/>
            <a:ext cx="8595360" cy="274320"/>
          </a:xfrm>
          <a:prstGeom prst="rect">
            <a:avLst/>
          </a:prstGeom>
          <a:solidFill>
            <a:srgbClr val="023E8A"/>
          </a:solidFill>
          <a:ln cap="flat" cmpd="sng" w="12700">
            <a:solidFill>
              <a:srgbClr val="02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274320" y="233172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ONLINE: Query-Time Retrieval &amp; Generation Pipeline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201168" y="2651760"/>
            <a:ext cx="1097400" cy="1005900"/>
          </a:xfrm>
          <a:prstGeom prst="rect">
            <a:avLst/>
          </a:prstGeom>
          <a:solidFill>
            <a:srgbClr val="E8F4FD"/>
          </a:solidFill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201168" y="2651760"/>
            <a:ext cx="1097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Farmer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Query Input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10"/>
          <p:cNvCxnSpPr/>
          <p:nvPr/>
        </p:nvCxnSpPr>
        <p:spPr>
          <a:xfrm>
            <a:off x="1298448" y="3154680"/>
            <a:ext cx="155400" cy="0"/>
          </a:xfrm>
          <a:prstGeom prst="straightConnector1">
            <a:avLst/>
          </a:prstGeom>
          <a:noFill/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p10"/>
          <p:cNvSpPr/>
          <p:nvPr/>
        </p:nvSpPr>
        <p:spPr>
          <a:xfrm>
            <a:off x="1453896" y="2651760"/>
            <a:ext cx="1097400" cy="1005900"/>
          </a:xfrm>
          <a:prstGeom prst="rect">
            <a:avLst/>
          </a:prstGeom>
          <a:solidFill>
            <a:srgbClr val="E8F4FD"/>
          </a:solidFill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1453896" y="2651760"/>
            <a:ext cx="1097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10"/>
          <p:cNvCxnSpPr/>
          <p:nvPr/>
        </p:nvCxnSpPr>
        <p:spPr>
          <a:xfrm>
            <a:off x="2551176" y="3154680"/>
            <a:ext cx="155400" cy="0"/>
          </a:xfrm>
          <a:prstGeom prst="straightConnector1">
            <a:avLst/>
          </a:prstGeom>
          <a:noFill/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" name="Google Shape;173;p10"/>
          <p:cNvSpPr/>
          <p:nvPr/>
        </p:nvSpPr>
        <p:spPr>
          <a:xfrm>
            <a:off x="2706624" y="2651760"/>
            <a:ext cx="1097280" cy="1005840"/>
          </a:xfrm>
          <a:prstGeom prst="rect">
            <a:avLst/>
          </a:prstGeom>
          <a:solidFill>
            <a:srgbClr val="E8F4FD"/>
          </a:solidFill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2706624" y="265176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Similarity Search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in ChromaDB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10"/>
          <p:cNvCxnSpPr/>
          <p:nvPr/>
        </p:nvCxnSpPr>
        <p:spPr>
          <a:xfrm>
            <a:off x="3803904" y="3154680"/>
            <a:ext cx="155448" cy="0"/>
          </a:xfrm>
          <a:prstGeom prst="straightConnector1">
            <a:avLst/>
          </a:prstGeom>
          <a:noFill/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10"/>
          <p:cNvSpPr/>
          <p:nvPr/>
        </p:nvSpPr>
        <p:spPr>
          <a:xfrm>
            <a:off x="3959352" y="2651760"/>
            <a:ext cx="1097280" cy="1005840"/>
          </a:xfrm>
          <a:prstGeom prst="rect">
            <a:avLst/>
          </a:prstGeom>
          <a:solidFill>
            <a:srgbClr val="E8F4FD"/>
          </a:solidFill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3959352" y="265176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Top-K Chunks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Retrieved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10"/>
          <p:cNvCxnSpPr/>
          <p:nvPr/>
        </p:nvCxnSpPr>
        <p:spPr>
          <a:xfrm>
            <a:off x="5056632" y="3154680"/>
            <a:ext cx="155448" cy="0"/>
          </a:xfrm>
          <a:prstGeom prst="straightConnector1">
            <a:avLst/>
          </a:prstGeom>
          <a:noFill/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" name="Google Shape;179;p10"/>
          <p:cNvSpPr/>
          <p:nvPr/>
        </p:nvSpPr>
        <p:spPr>
          <a:xfrm>
            <a:off x="5212080" y="2651760"/>
            <a:ext cx="1097280" cy="1005840"/>
          </a:xfrm>
          <a:prstGeom prst="rect">
            <a:avLst/>
          </a:prstGeom>
          <a:solidFill>
            <a:srgbClr val="E8F4FD"/>
          </a:solidFill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5212080" y="265176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Context +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Prompt Injection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10"/>
          <p:cNvCxnSpPr/>
          <p:nvPr/>
        </p:nvCxnSpPr>
        <p:spPr>
          <a:xfrm>
            <a:off x="6309360" y="3154680"/>
            <a:ext cx="155448" cy="0"/>
          </a:xfrm>
          <a:prstGeom prst="straightConnector1">
            <a:avLst/>
          </a:prstGeom>
          <a:noFill/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2" name="Google Shape;182;p10"/>
          <p:cNvSpPr/>
          <p:nvPr/>
        </p:nvSpPr>
        <p:spPr>
          <a:xfrm>
            <a:off x="6464808" y="2651760"/>
            <a:ext cx="1097280" cy="1005840"/>
          </a:xfrm>
          <a:prstGeom prst="rect">
            <a:avLst/>
          </a:prstGeom>
          <a:solidFill>
            <a:srgbClr val="E8F4FD"/>
          </a:solidFill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6464808" y="265176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Groq LLM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10"/>
          <p:cNvCxnSpPr/>
          <p:nvPr/>
        </p:nvCxnSpPr>
        <p:spPr>
          <a:xfrm>
            <a:off x="7562088" y="3154680"/>
            <a:ext cx="155448" cy="0"/>
          </a:xfrm>
          <a:prstGeom prst="straightConnector1">
            <a:avLst/>
          </a:prstGeom>
          <a:noFill/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5" name="Google Shape;185;p10"/>
          <p:cNvSpPr/>
          <p:nvPr/>
        </p:nvSpPr>
        <p:spPr>
          <a:xfrm>
            <a:off x="7717536" y="2651760"/>
            <a:ext cx="1097280" cy="1005840"/>
          </a:xfrm>
          <a:prstGeom prst="rect">
            <a:avLst/>
          </a:prstGeom>
          <a:solidFill>
            <a:srgbClr val="E8F4FD"/>
          </a:solidFill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7717536" y="265176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FFF3E0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457200" y="3858768"/>
            <a:ext cx="822960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Why RAG? </a:t>
            </a: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Without RAG, the LLM gives generic answers and may hallucinate crop-specific facts. RAG grounds the output in real ICAR bulletins, NABARD scheme data, and FAO loss statistics making every recommendation factual, localised, and trustworthy.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FFE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/>
          <p:nvPr/>
        </p:nvSpPr>
        <p:spPr>
          <a:xfrm>
            <a:off x="0" y="182880"/>
            <a:ext cx="91440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Features of the System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228600" y="868680"/>
            <a:ext cx="196596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96012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1"/>
          <p:cNvSpPr/>
          <p:nvPr/>
        </p:nvSpPr>
        <p:spPr>
          <a:xfrm>
            <a:off x="320040" y="16459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Smart Crop Storage Guidance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320040" y="2112264"/>
            <a:ext cx="1783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Tailored storage recommendations by crop type, quantity &amp; region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2404872" y="868680"/>
            <a:ext cx="196596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3240" y="96012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1"/>
          <p:cNvSpPr/>
          <p:nvPr/>
        </p:nvSpPr>
        <p:spPr>
          <a:xfrm>
            <a:off x="2496312" y="16459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Weather-Aware Recommendations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2496312" y="2112264"/>
            <a:ext cx="1783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Uses IMD forecast data to flag humidity/temperature storage risks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581144" y="868680"/>
            <a:ext cx="196596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23E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9512" y="96012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/>
          <p:nvPr/>
        </p:nvSpPr>
        <p:spPr>
          <a:xfrm>
            <a:off x="4672584" y="16459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Govt. Scheme Suggestions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672584" y="2112264"/>
            <a:ext cx="1783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Automatic NABARD/AMIF warehouse eligibility check per farmer profile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6757416" y="868680"/>
            <a:ext cx="196596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15784" y="96012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1"/>
          <p:cNvSpPr/>
          <p:nvPr/>
        </p:nvSpPr>
        <p:spPr>
          <a:xfrm>
            <a:off x="6848856" y="16459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Market Insights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6848856" y="2112264"/>
            <a:ext cx="1783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Recommends optimal selling windows based on commodity price trends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228600" y="2926080"/>
            <a:ext cx="196596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968" y="301752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1"/>
          <p:cNvSpPr/>
          <p:nvPr/>
        </p:nvSpPr>
        <p:spPr>
          <a:xfrm>
            <a:off x="320040" y="37033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Multilingual Support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320040" y="4169664"/>
            <a:ext cx="1783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Full Kannada ↔ English switching powered by IndicTrans2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2404872" y="2926080"/>
            <a:ext cx="196596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63240" y="301752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1"/>
          <p:cNvSpPr/>
          <p:nvPr/>
        </p:nvSpPr>
        <p:spPr>
          <a:xfrm>
            <a:off x="2496312" y="37033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Downloadable Reports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2496312" y="4169664"/>
            <a:ext cx="1783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5-section DOCX advisory + pest calendar + scheme eligibility export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581144" y="2926080"/>
            <a:ext cx="196596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39512" y="301752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1"/>
          <p:cNvSpPr/>
          <p:nvPr/>
        </p:nvSpPr>
        <p:spPr>
          <a:xfrm>
            <a:off x="4672584" y="37033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Pest Risk Calendar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4672584" y="4169664"/>
            <a:ext cx="1783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Region- and crop-specific pest risk window calendar from ICAR data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6757416" y="2926080"/>
            <a:ext cx="196596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23E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15784" y="301752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1"/>
          <p:cNvSpPr/>
          <p:nvPr/>
        </p:nvSpPr>
        <p:spPr>
          <a:xfrm>
            <a:off x="6848856" y="37033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AI Query Answering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6848856" y="4169664"/>
            <a:ext cx="1783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Open-ended farmer Q&amp;A powered by Groq LLM with RAG grounding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FFE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/>
          <p:nvPr/>
        </p:nvSpPr>
        <p:spPr>
          <a:xfrm>
            <a:off x="0" y="182880"/>
            <a:ext cx="91440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Benefits &amp; Impact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274320" y="841248"/>
            <a:ext cx="4023360" cy="402336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274320" y="84124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🌾  For Farmers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57200" y="1344168"/>
            <a:ext cx="36576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Reduced post-harvest crop loss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Better informed storage decisions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Access to government scheme benefits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Higher profitability per season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Guidance in their native language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Mobile-friendly downloadable reports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4846320" y="841248"/>
            <a:ext cx="4023360" cy="4023360"/>
          </a:xfrm>
          <a:prstGeom prst="rect">
            <a:avLst/>
          </a:prstGeom>
          <a:solidFill>
            <a:srgbClr val="E8F4FD"/>
          </a:solidFill>
          <a:ln cap="flat" cmpd="sng" w="190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4846320" y="84124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E8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🏗  For Agriculture Sector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5029200" y="1344168"/>
            <a:ext cx="36576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Reduced national food wastage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Better supply chain efficiency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Improved knowledge dissemination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Regional language AI accessibility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Data-driven policy planning support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Scalable to any Indian state/crop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4C69D"/>
                </a:solidFill>
                <a:latin typeface="Calibri"/>
                <a:ea typeface="Calibri"/>
                <a:cs typeface="Calibri"/>
                <a:sym typeface="Calibri"/>
              </a:rPr>
              <a:t>India loses ~16% food grain post-harvest  |  Target: Reduce to &lt;8%  |  Impact: Millions of farming households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8FFFE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/>
          <p:nvPr/>
        </p:nvSpPr>
        <p:spPr>
          <a:xfrm>
            <a:off x="0" y="182880"/>
            <a:ext cx="91440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Enhancements &amp; Roadmap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274320" y="868680"/>
            <a:ext cx="1920240" cy="4114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274320" y="868680"/>
            <a:ext cx="1920240" cy="658368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274320" y="86868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(Current)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365760" y="1581912"/>
            <a:ext cx="1737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Streamlit Web App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RAG + Groq LLM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DOCX Report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Kannada Support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13"/>
          <p:cNvCxnSpPr/>
          <p:nvPr/>
        </p:nvCxnSpPr>
        <p:spPr>
          <a:xfrm>
            <a:off x="2194560" y="2926080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2" name="Google Shape;252;p13"/>
          <p:cNvSpPr/>
          <p:nvPr/>
        </p:nvSpPr>
        <p:spPr>
          <a:xfrm>
            <a:off x="2423160" y="868680"/>
            <a:ext cx="1920240" cy="4114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2423160" y="868680"/>
            <a:ext cx="1920240" cy="658368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2423160" y="86868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(3–6 months)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2514600" y="1581912"/>
            <a:ext cx="1737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Voice-based interaction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Mobile application (PWA)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More regional languages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WhatsApp chatbot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13"/>
          <p:cNvCxnSpPr/>
          <p:nvPr/>
        </p:nvCxnSpPr>
        <p:spPr>
          <a:xfrm>
            <a:off x="4343400" y="2926080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7" name="Google Shape;257;p13"/>
          <p:cNvSpPr/>
          <p:nvPr/>
        </p:nvSpPr>
        <p:spPr>
          <a:xfrm>
            <a:off x="4572000" y="868680"/>
            <a:ext cx="1920240" cy="4114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4572000" y="868680"/>
            <a:ext cx="1920240" cy="658368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4572000" y="86868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(6–12 months)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4663440" y="1581912"/>
            <a:ext cx="1737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IoT sensor integration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Real-time market pricing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AI storage risk scoring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Offline mode support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13"/>
          <p:cNvCxnSpPr/>
          <p:nvPr/>
        </p:nvCxnSpPr>
        <p:spPr>
          <a:xfrm>
            <a:off x="6492240" y="2926080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2" name="Google Shape;262;p13"/>
          <p:cNvSpPr/>
          <p:nvPr/>
        </p:nvSpPr>
        <p:spPr>
          <a:xfrm>
            <a:off x="6720840" y="868680"/>
            <a:ext cx="1920240" cy="4114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6720840" y="868680"/>
            <a:ext cx="1920240" cy="658368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6720840" y="86868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(12+ months)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6812280" y="1581912"/>
            <a:ext cx="1737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Pan-India deployment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State govt. integration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Predictive yield models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E4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44E41"/>
                </a:solidFill>
                <a:latin typeface="Calibri"/>
                <a:ea typeface="Calibri"/>
                <a:cs typeface="Calibri"/>
                <a:sym typeface="Calibri"/>
              </a:rPr>
              <a:t>Satellite imagery analysis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FFE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/>
          <p:nvPr/>
        </p:nvSpPr>
        <p:spPr>
          <a:xfrm>
            <a:off x="0" y="182880"/>
            <a:ext cx="914400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274320" y="2154023"/>
            <a:ext cx="8595300" cy="14631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457200" y="219978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This system empowers Indian farmers with AI-driven, personalised post-harvest advisory in their native language — tackling the 16% crop loss problem through intelligent storage guidance, pest risk awareness, government scheme access, and downloadable report generation.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FFE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b76500eef_0_0"/>
          <p:cNvSpPr/>
          <p:nvPr/>
        </p:nvSpPr>
        <p:spPr>
          <a:xfrm>
            <a:off x="0" y="182880"/>
            <a:ext cx="9144000" cy="5943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g3eb76500eef_0_0" title="ruralAI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725" y="876788"/>
            <a:ext cx="8458556" cy="4061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D6A4F">
              <a:alpha val="40000"/>
            </a:srgbClr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40916C">
              <a:alpha val="30196"/>
            </a:srgbClr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8" name="Google Shape;28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4572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5"/>
          <p:cNvSpPr/>
          <p:nvPr/>
        </p:nvSpPr>
        <p:spPr>
          <a:xfrm>
            <a:off x="914400" y="14173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lang="en-US"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2000"/>
              <a:buFont typeface="Calibri"/>
              <a:buNone/>
            </a:pPr>
            <a:r>
              <a:rPr i="1" lang="en-US" sz="2000">
                <a:solidFill>
                  <a:srgbClr val="74C69D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914400" y="3108960"/>
            <a:ext cx="7315200" cy="1005840"/>
          </a:xfrm>
          <a:prstGeom prst="rect">
            <a:avLst/>
          </a:prstGeom>
          <a:solidFill>
            <a:srgbClr val="344E41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914400" y="3127248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Team A15  |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Prasanna Anagal  •  Sahana R  •  Rachana Rane  •  Vindhya Hegde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74C69D"/>
                </a:solidFill>
                <a:latin typeface="Calibri"/>
                <a:ea typeface="Calibri"/>
                <a:cs typeface="Calibri"/>
                <a:sym typeface="Calibri"/>
              </a:rPr>
              <a:t>Domain 3: Agriculture &amp; Rural AI  |  Post-Harvest Loss Reduction Advisor using GenAI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914400" y="42976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74C69D"/>
                </a:solidFill>
                <a:latin typeface="Calibri"/>
                <a:ea typeface="Calibri"/>
                <a:cs typeface="Calibri"/>
                <a:sym typeface="Calibri"/>
              </a:rPr>
              <a:t>"Empowering farmers with AI — from harvest to storage, in their language."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2026-05-30T15:46:30Z</dcterms:created>
  <dc:creator>PptxGenJS</dc:creator>
</cp:coreProperties>
</file>